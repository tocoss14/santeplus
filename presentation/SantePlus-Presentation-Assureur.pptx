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: rappeler que la plateforme est opérationnelle et que l'objet de la rencontre est le partenariat de portage de produits.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à ajuster avec les données officielles du partenaire ; l'ordre de grandeur (couverture &lt; 10 %, informel dominant) fait consensus.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coût de traitement manuel côté assureur : c’est l’argument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message clé : SantéPlus se positionne entre le client et vous, sans jamais porter le risque ni se substituer à votre agrément.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possible en live depuis un simple téléphone pendant la réunion.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bénéfice correspond à une fonctionnalité déjà livrée dans la plateforme (voir démo).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L'autorisation préalable est paramétrable par produit et par seuil : vous gardez le contrôle médical-administratif des actes coûteux.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Rassurer sur deux points sensibles : conformité (intermédiation vs portage) et protection des données de santé.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: time-to-market. Une nouvelle offre se configure en quelques heures par vos équipes, pas en mois de développement.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Garder la discussion ouverte entre commission et SaaS ; l’essentiel est le démarrage rapide du pilote.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Proposer directement deux créneaux de démo pour créer l'élan.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promettre de dates ici : la roadmap commune se fige à l’atelier de cadrage.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sur la simplicité de la première étape : un seul atelier suffit pour chiffrer une offre.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035040" cy="603504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566160"/>
            <a:ext cx="3840480" cy="3840480"/>
          </a:xfrm>
          <a:prstGeom prst="ellipse">
            <a:avLst/>
          </a:prstGeom>
          <a:solidFill>
            <a:srgbClr val="5EEAD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35240" y="4480560"/>
            <a:ext cx="1371600" cy="1371600"/>
          </a:xfrm>
          <a:prstGeom prst="ellipse">
            <a:avLst/>
          </a:prstGeom>
          <a:solidFill>
            <a:srgbClr val="F59E0B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SantéPlus Bénin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99F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Votre santé. Votre couverture. Simplement. »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49808" y="370332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digitale d’assurance santé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partenariat — portage de produits par un assureur partenaire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confidentiel · 2026 · À l’attention de la Direction Générale et de la Direction Technique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MARCHÉ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demande immense, encore très peu couverte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38728" cy="2880360"/>
          </a:xfrm>
          <a:prstGeom prst="roundRect">
            <a:avLst>
              <a:gd name="adj" fmla="val 2857"/>
            </a:avLst>
          </a:prstGeom>
          <a:solidFill>
            <a:srgbClr val="F0FD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10 %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2898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dispose d’une couverture maladie (estimation — la majorité paie ses soins en direct)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508760"/>
            <a:ext cx="3538728" cy="2880360"/>
          </a:xfrm>
          <a:prstGeom prst="roundRect">
            <a:avLst>
              <a:gd name="adj" fmla="val 2857"/>
            </a:avLst>
          </a:prstGeom>
          <a:solidFill>
            <a:srgbClr val="F0FDFA"/>
          </a:solidFill>
          <a:ln/>
        </p:spPr>
      </p:sp>
      <p:sp>
        <p:nvSpPr>
          <p:cNvPr id="8" name="Text 6"/>
          <p:cNvSpPr/>
          <p:nvPr/>
        </p:nvSpPr>
        <p:spPr>
          <a:xfrm>
            <a:off x="4507992" y="1828800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~90 %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645152" y="2971800"/>
            <a:ext cx="2898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l’économie est informelle : hors de portée des circuits classiques d’assurance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508760"/>
            <a:ext cx="3538728" cy="2880360"/>
          </a:xfrm>
          <a:prstGeom prst="roundRect">
            <a:avLst>
              <a:gd name="adj" fmla="val 2857"/>
            </a:avLst>
          </a:prstGeom>
          <a:solidFill>
            <a:srgbClr val="F0FDFA"/>
          </a:solidFill>
          <a:ln/>
        </p:spPr>
      </p:sp>
      <p:sp>
        <p:nvSpPr>
          <p:cNvPr id="11" name="Text 9"/>
          <p:cNvSpPr/>
          <p:nvPr/>
        </p:nvSpPr>
        <p:spPr>
          <a:xfrm>
            <a:off x="8284464" y="1828800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N° 1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8421624" y="2971800"/>
            <a:ext cx="2898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mobile money est devenu le premier moyen de paiement des ménages urbains et ruraux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4983480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demande réelle de protection santé — bloquée par des parcours inadaptés au quotidien des ménages et des entreprises.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tant de familles restent sans couverture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47088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28800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Souscription lourde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217627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Paperasse, déplacements en agence, délais d’attente : l’adhésion décourage les candidats.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5544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1847088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364224" y="1828800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59752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en espèces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59752" y="217627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paiement à distance ni fractionnement souple adapté aux revenus irréguliers.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813048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794760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7216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Remboursements opaques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08760" y="414223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Justificatifs papier, délais longs, aucun suivi pour l’assuré comme pour l’employeur.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35204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3813048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364224" y="3794760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59752" y="37216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manuelle coûteuse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59752" y="414223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Saisie, contrôles et règlements à la main : charges élevées, erreurs, fraude difficile à détecter.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57150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frein est adressable par le digital mobile — c’est exactement ce que construit SantéPlus.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chaîne complète de l’assurance santé, digitalisée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59736" cy="2514600"/>
          </a:xfrm>
          <a:prstGeom prst="roundRect">
            <a:avLst>
              <a:gd name="adj" fmla="val 3346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487168"/>
            <a:ext cx="21854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</a:t>
            </a:r>
            <a:endParaRPr lang="en-US" sz="11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&amp; salariés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9856" y="1600200"/>
            <a:ext cx="2459736" cy="2514600"/>
          </a:xfrm>
          <a:prstGeom prst="roundRect">
            <a:avLst>
              <a:gd name="adj" fmla="val 3346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3557016" y="178308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SantéPlus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57016" y="2487168"/>
            <a:ext cx="21854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Souscription &amp; devis</a:t>
            </a:r>
            <a:endParaRPr lang="en-US" sz="11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11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assuré QR</a:t>
            </a:r>
            <a:endParaRPr lang="en-US" sz="11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payant</a:t>
            </a:r>
            <a:endParaRPr lang="en-US" sz="11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91072" y="1600200"/>
            <a:ext cx="2459736" cy="2514600"/>
          </a:xfrm>
          <a:prstGeom prst="roundRect">
            <a:avLst>
              <a:gd name="adj" fmla="val 3346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78308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santé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28232" y="2487168"/>
            <a:ext cx="21854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configurables</a:t>
            </a:r>
            <a:endParaRPr lang="en-US" sz="11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vos équipes,</a:t>
            </a:r>
            <a:endParaRPr lang="en-US" sz="11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développement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62288" y="1600200"/>
            <a:ext cx="2459736" cy="2514600"/>
          </a:xfrm>
          <a:prstGeom prst="roundRect">
            <a:avLst>
              <a:gd name="adj" fmla="val 3346"/>
            </a:avLst>
          </a:prstGeom>
          <a:solidFill>
            <a:srgbClr val="134E4A"/>
          </a:solidFill>
          <a:ln/>
        </p:spPr>
      </p:sp>
      <p:sp>
        <p:nvSpPr>
          <p:cNvPr id="14" name="Text 12"/>
          <p:cNvSpPr/>
          <p:nvPr/>
        </p:nvSpPr>
        <p:spPr>
          <a:xfrm>
            <a:off x="9299448" y="178308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assureur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299448" y="2487168"/>
            <a:ext cx="21854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Porteur du risque</a:t>
            </a:r>
            <a:endParaRPr lang="en-US" sz="11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produit</a:t>
            </a:r>
            <a:endParaRPr lang="en-US" sz="11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Agrément CIMA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54096" y="2651760"/>
            <a:ext cx="329184" cy="384048"/>
          </a:xfrm>
          <a:prstGeom prst="rightArrow">
            <a:avLst/>
          </a:prstGeom>
          <a:solidFill>
            <a:srgbClr val="D97706"/>
          </a:solidFill>
          <a:ln/>
        </p:spPr>
      </p:sp>
      <p:sp>
        <p:nvSpPr>
          <p:cNvPr id="17" name="Shape 15"/>
          <p:cNvSpPr/>
          <p:nvPr/>
        </p:nvSpPr>
        <p:spPr>
          <a:xfrm>
            <a:off x="5925312" y="2651760"/>
            <a:ext cx="329184" cy="384048"/>
          </a:xfrm>
          <a:prstGeom prst="rightArrow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8796528" y="2651760"/>
            <a:ext cx="329184" cy="384048"/>
          </a:xfrm>
          <a:prstGeom prst="rightArrow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526280"/>
            <a:ext cx="11073384" cy="777240"/>
          </a:xfrm>
          <a:prstGeom prst="roundRect">
            <a:avLst>
              <a:gd name="adj" fmla="val 10588"/>
            </a:avLst>
          </a:prstGeom>
          <a:solidFill>
            <a:srgbClr val="F0FDF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62686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soins conventionné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hôpitaux · cliniques · pharmacies · laboratoires · spécialistes : annuaire géolocalisé et tiers payant intégré.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CLIENT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Souscrire prend moins de cinq minutes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59736" cy="2286000"/>
          </a:xfrm>
          <a:prstGeom prst="roundRect">
            <a:avLst>
              <a:gd name="adj" fmla="val 36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7048" y="1627632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435608" y="1609344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ou ordinateur,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 minutes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35808" y="2788920"/>
            <a:ext cx="329184" cy="384048"/>
          </a:xfrm>
          <a:prstGeom prst="rightArrow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3419856" y="1874520"/>
            <a:ext cx="2459736" cy="2286000"/>
          </a:xfrm>
          <a:prstGeom prst="roundRect">
            <a:avLst>
              <a:gd name="adj" fmla="val 36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98264" y="1627632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306824" y="1609344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7016" y="239572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&amp; devis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02736" y="2907792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immédiate,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ayants droit inclus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07024" y="2788920"/>
            <a:ext cx="329184" cy="384048"/>
          </a:xfrm>
          <a:prstGeom prst="rightArrow">
            <a:avLst/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874520"/>
            <a:ext cx="2459736" cy="2286000"/>
          </a:xfrm>
          <a:prstGeom prst="roundRect">
            <a:avLst>
              <a:gd name="adj" fmla="val 36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627632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609344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8232" y="239572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73952" y="2907792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— mensuel,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trimestriel ou annuel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78240" y="2788920"/>
            <a:ext cx="329184" cy="384048"/>
          </a:xfrm>
          <a:prstGeom prst="rightArrow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9162288" y="1874520"/>
            <a:ext cx="2459736" cy="2286000"/>
          </a:xfrm>
          <a:prstGeom prst="roundRect">
            <a:avLst>
              <a:gd name="adj" fmla="val 36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40696" y="1627632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49256" y="1609344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99448" y="239572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QR active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45168" y="2907792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effective,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PDF généré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709160"/>
            <a:ext cx="11073384" cy="914400"/>
          </a:xfrm>
          <a:prstGeom prst="roundRect">
            <a:avLst>
              <a:gd name="adj" fmla="val 9000"/>
            </a:avLst>
          </a:prstGeom>
          <a:solidFill>
            <a:srgbClr val="F0FDF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818888"/>
            <a:ext cx="10424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numérique, certificat d’adhésion PDF et carte d’assuré </a:t>
            </a:r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générés automatiquement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zéro paperasse, activation dès confirmation du paiement.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POUR VOTRE COMPAGNIE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SantéPlus apporte à votre portefeuille santé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38728" cy="1664208"/>
          </a:xfrm>
          <a:prstGeom prst="roundRect">
            <a:avLst>
              <a:gd name="adj" fmla="val 494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92224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773936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17190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digitale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30428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canal direct particuliers &amp; entreprises, accessible 24/7 depuis un téléphone.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538728" cy="1664208"/>
          </a:xfrm>
          <a:prstGeom prst="roundRect">
            <a:avLst>
              <a:gd name="adj" fmla="val 494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792224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773936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3208" y="17190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de gestion réduits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81144" y="230428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Souscription, échéanciers, paiements et documents automatisés de bout en bout.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554480"/>
            <a:ext cx="3538728" cy="1664208"/>
          </a:xfrm>
          <a:prstGeom prst="roundRect">
            <a:avLst>
              <a:gd name="adj" fmla="val 494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92224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773936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9680" y="17190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Sinistralité maîtrisée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57616" y="230428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Plafonds et taux appliqués en temps réel, reste à charge connu avant l’acte.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3538728" cy="1664208"/>
          </a:xfrm>
          <a:prstGeom prst="roundRect">
            <a:avLst>
              <a:gd name="adj" fmla="val 494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639312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62102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16736" y="3566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Anti-fraude intégré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4151376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doublons, délais de carence, exclusions et autorisations préalables.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3401568"/>
            <a:ext cx="3538728" cy="1664208"/>
          </a:xfrm>
          <a:prstGeom prst="roundRect">
            <a:avLst>
              <a:gd name="adj" fmla="val 494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3639312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362102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93208" y="3566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données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81144" y="4151376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production / sinistralité, exports, statistiques par produit.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3401568"/>
            <a:ext cx="3538728" cy="1664208"/>
          </a:xfrm>
          <a:prstGeom prst="roundRect">
            <a:avLst>
              <a:gd name="adj" fmla="val 494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639312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62102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9680" y="3566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marque en avant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57616" y="4151376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Produits, contrats, certificats et attestations portent le nom de votre compagnie.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548640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partagé : développer rapidement un portefeuille santé rentable et bien géré.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PRESTATAIRE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tiers payant en temps réel chez les partenaires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06440" cy="4160520"/>
          </a:xfrm>
          <a:prstGeom prst="roundRect">
            <a:avLst>
              <a:gd name="adj" fmla="val 1978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556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cabinet, en 30 secondes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8680" y="2304288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44752" y="22585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du QR code de la carte assuré (caméra ou saisie)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145536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27248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44752" y="309981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instantanée : contrat, garanties, plafonds restants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986784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68496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44752" y="394106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actes — calcul immédiat de la prise en charge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828032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09744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44752" y="47823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: plafonds décrémentés, reçu numérique remis au patient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1554480"/>
            <a:ext cx="4992624" cy="4160520"/>
          </a:xfrm>
          <a:prstGeom prst="roundRect">
            <a:avLst>
              <a:gd name="adj" fmla="val 1978"/>
            </a:avLst>
          </a:prstGeom>
          <a:solidFill>
            <a:srgbClr val="F0FDFA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755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change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03720" y="22860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à charge connu par le patient avant l’acte — plus de mauvaise surprise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31272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Plafonds annuels suivis à l’unité près, par garantie et par assuré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396849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 préalable automatique au-delà d’un seuil configurable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480974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et traçable pour vos services de gestion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RÉGLEMENTAIRE &amp; SÉCURITÉ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partenariat clair, conforme, sécurisé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0FD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739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rôles séparés, conformes CIMA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portez le risque et la marque commerciale du produit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8094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SantéPlus agit comme intermédiaire technologique (plateforme)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légales intégrées aux contrats, certificats et attestations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33425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multi-assureurs : indépendante et réversible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01091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zone UEMOA / espace CIMA (multi-pays, multi-devises)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55448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773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by design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30428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granulaires et journal d’audit de toutes les actions sensibles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19672" y="2980944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d’identité chiffrées (AES-256), documents médicaux jamais publics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19672" y="3657600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carte = jeton opaque : aucune donnée personnelle exposée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9672" y="4334256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Cloisonnement strict des données entre entreprises clientes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19672" y="5010912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certifiés via FedaPay / CinetPay (MTN MoMo, Moov Money)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PRODUITS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Lancez vos offres santé sans une ligne de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 paramétrables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Catégories, taux, plafonds, franchises, exclusions, carences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9632" y="15544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7190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d’adhésion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73952" y="21031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Âges, conjoint, enfants (âge max), quotas d’ayants droit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91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flexible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67588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adultes + enfants, fractionnement mensuel / trimestriel / annuel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3127248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291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Multi-partenaires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367588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produit peut être porté par un assureur différent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1107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déjà paramétrées dans la démonstration 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93792"/>
            <a:ext cx="2606040" cy="60350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19379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Essentielle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74136" y="5193792"/>
            <a:ext cx="2606040" cy="60350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3374136" y="519379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99632" y="5193792"/>
            <a:ext cx="2606040" cy="60350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6199632" y="519379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25128" y="5193792"/>
            <a:ext cx="2606040" cy="60350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9025128" y="519379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Entreprise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partenariat équilibré, sans investissement lourd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38728" cy="3977640"/>
          </a:xfrm>
          <a:prstGeom prst="roundRect">
            <a:avLst>
              <a:gd name="adj" fmla="val 232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55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— assureur partenaire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24505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Produit, garanties et tarification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86384" y="31729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Portage du risque et réserves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389534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commerciale des offres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6384" y="4617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Encaissements sécurisés, sinistres suivis via la plateforme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554480"/>
            <a:ext cx="3538728" cy="3977640"/>
          </a:xfrm>
          <a:prstGeom prst="roundRect">
            <a:avLst>
              <a:gd name="adj" fmla="val 232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1755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SantéPlus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2856" y="24505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et évolution continue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62856" y="31729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digitale &amp; marketing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62856" y="389534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quotidienne et support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62856" y="4617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prestataires et entreprises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1584" y="1554480"/>
            <a:ext cx="3538728" cy="3977640"/>
          </a:xfrm>
          <a:prstGeom prst="roundRect">
            <a:avLst>
              <a:gd name="adj" fmla="val 2326"/>
            </a:avLst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755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contractuel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9328" y="24505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paramétrable sur les cotisations collectées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39328" y="31729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abonnement SaaS selon préférence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39328" y="389534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partagés : souscriptions, recouvrement, sinistralité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39328" y="4617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coût de développement à votre charge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7280" y="576072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plateforme est déjà développée et opérationnelle : le partenariat démarre par le commercial, pas par la technique.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PAR LA DÉMONSTRATION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ceci fonctionne déjà, aujourd’hui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Souscription → mobile money → activation immédiate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55080" y="160020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FedaPay &amp; CinetPay intégrés (MTN MoMo, Moov Money)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d’assuré QR vérifiable par le prestataire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231343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payant avec calcul instantané et autorisation préalable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2666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complet : produits, contrats, sinistres, rôles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302666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et attestations officiels en PDF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73989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des salariés avec contrôle des doublons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373989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e-mail / SMS / WhatsApp prêtes à brancher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73384" cy="96012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0017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session de démonstration en conditions réelles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être organisée cette semaine — depuis un simple téléphone, devant vos équipes techniques et commerciales.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COMMUNE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Construits pour grandir ensemble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59736" cy="2377440"/>
          </a:xfrm>
          <a:prstGeom prst="roundRect">
            <a:avLst>
              <a:gd name="adj" fmla="val 3462"/>
            </a:avLst>
          </a:prstGeom>
          <a:solidFill>
            <a:srgbClr val="F0FDFA"/>
          </a:solidFill>
          <a:ln/>
        </p:spPr>
      </p:sp>
      <p:sp>
        <p:nvSpPr>
          <p:cNvPr id="5" name="Shape 3"/>
          <p:cNvSpPr/>
          <p:nvPr/>
        </p:nvSpPr>
        <p:spPr>
          <a:xfrm>
            <a:off x="1527048" y="1463040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435608" y="144475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factures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724912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automatique des justificatifs et pré-remplissage des demandes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9856" y="1691640"/>
            <a:ext cx="2459736" cy="2377440"/>
          </a:xfrm>
          <a:prstGeom prst="roundRect">
            <a:avLst>
              <a:gd name="adj" fmla="val 3462"/>
            </a:avLst>
          </a:prstGeom>
          <a:solidFill>
            <a:srgbClr val="F0FDFA"/>
          </a:solidFill>
          <a:ln/>
        </p:spPr>
      </p:sp>
      <p:sp>
        <p:nvSpPr>
          <p:cNvPr id="10" name="Shape 8"/>
          <p:cNvSpPr/>
          <p:nvPr/>
        </p:nvSpPr>
        <p:spPr>
          <a:xfrm>
            <a:off x="4398264" y="1463040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306824" y="144475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57016" y="221284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02736" y="2724912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natives et assistance assurée directement dans WhatsApp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91072" y="1691640"/>
            <a:ext cx="2459736" cy="2377440"/>
          </a:xfrm>
          <a:prstGeom prst="roundRect">
            <a:avLst>
              <a:gd name="adj" fmla="val 3462"/>
            </a:avLst>
          </a:prstGeom>
          <a:solidFill>
            <a:srgbClr val="F0FD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9480" y="1463040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44475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28232" y="221284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73952" y="2724912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stores pour assurés et prestataires (scan caméra natif)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62288" y="1691640"/>
            <a:ext cx="2459736" cy="2377440"/>
          </a:xfrm>
          <a:prstGeom prst="roundRect">
            <a:avLst>
              <a:gd name="adj" fmla="val 3462"/>
            </a:avLst>
          </a:prstGeom>
          <a:solidFill>
            <a:srgbClr val="F0FD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40696" y="1463040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49256" y="144475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99448" y="221284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régionale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45168" y="2724912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UEMOA : multi-pays, multi-devises, multi-langues — architecture prête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52628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Priorités arrêtées ensemble lors de l’atelier de cadrage produits.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463040"/>
            <a:ext cx="4023360" cy="402336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Construisons l’offre santé digitale du Bénin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0B4A45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1945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17627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212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produits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2834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journée : formules, tarifs, seuils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2697480"/>
            <a:ext cx="182880" cy="27432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3538728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0B4A45"/>
          </a:solidFill>
          <a:ln/>
        </p:spPr>
      </p:sp>
      <p:sp>
        <p:nvSpPr>
          <p:cNvPr id="12" name="Shape 10"/>
          <p:cNvSpPr/>
          <p:nvPr/>
        </p:nvSpPr>
        <p:spPr>
          <a:xfrm>
            <a:off x="3758184" y="21945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666744" y="217627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61688" y="2212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76472" y="2834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juridique et modèle économique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3056" y="2697480"/>
            <a:ext cx="182880" cy="27432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45936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0B4A45"/>
          </a:solidFill>
          <a:ln/>
        </p:spPr>
      </p:sp>
      <p:sp>
        <p:nvSpPr>
          <p:cNvPr id="18" name="Shape 16"/>
          <p:cNvSpPr/>
          <p:nvPr/>
        </p:nvSpPr>
        <p:spPr>
          <a:xfrm>
            <a:off x="6565392" y="21945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217627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68896" y="2212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3 mois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2834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clients, KPIs partagés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70264" y="2697480"/>
            <a:ext cx="182880" cy="27432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9153144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0B4A45"/>
          </a:solidFill>
          <a:ln/>
        </p:spPr>
      </p:sp>
      <p:sp>
        <p:nvSpPr>
          <p:cNvPr id="24" name="Shape 22"/>
          <p:cNvSpPr/>
          <p:nvPr/>
        </p:nvSpPr>
        <p:spPr>
          <a:xfrm>
            <a:off x="9372600" y="21945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217627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976104" y="2212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90888" y="2834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et extension d’offres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4343400"/>
            <a:ext cx="10725912" cy="1234440"/>
          </a:xfrm>
          <a:prstGeom prst="roundRect">
            <a:avLst>
              <a:gd name="adj" fmla="val 6667"/>
            </a:avLst>
          </a:prstGeom>
          <a:solidFill>
            <a:srgbClr val="0B4A45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4805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contact@santeplus.bj   ·   +229 01 00 00 00   ·   Cotonou, Bénin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91947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SantéPlus Bénin — Plateforme technologique d’assurance santé · Démonstration disponible sur demande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SantePlus - Proposition de partenariat assureur</dc:title>
  <dc:subject>PptxGenJS Presentation</dc:subject>
  <dc:creator>SantePlus Benin</dc:creator>
  <cp:lastModifiedBy>SantePlus Benin</cp:lastModifiedBy>
  <cp:revision>1</cp:revision>
  <dcterms:created xsi:type="dcterms:W3CDTF">2026-08-24T04:48:43Z</dcterms:created>
  <dcterms:modified xsi:type="dcterms:W3CDTF">2026-08-24T04:48:43Z</dcterms:modified>
</cp:coreProperties>
</file>